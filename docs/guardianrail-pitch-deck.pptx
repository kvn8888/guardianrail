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419e7b9b5c4e58" /><Relationship Type="http://schemas.openxmlformats.org/officeDocument/2006/relationships/extended-properties" Target="/docProps/app.xml" Id="Rf8a33d33fee74da7" /><Relationship Type="http://schemas.openxmlformats.org/officeDocument/2006/relationships/officeDocument" Target="/ppt/presentation.xml" Id="Rf4c3ecdf63234f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37f7ed9b7e419e"/>
  </p:sldMasterIdLst>
  <p:notesMasterIdLst>
    <p:notesMasterId xmlns:r="http://schemas.openxmlformats.org/officeDocument/2006/relationships" r:id="R800aab085bab48dc"/>
  </p:notesMasterIdLst>
  <p:sldIdLst>
    <p:sldId xmlns:r="http://schemas.openxmlformats.org/officeDocument/2006/relationships" id="256" r:id="R6007a72d1f0147c2"/>
    <p:sldId xmlns:r="http://schemas.openxmlformats.org/officeDocument/2006/relationships" id="257" r:id="Re05daff3971e4a3f"/>
    <p:sldId xmlns:r="http://schemas.openxmlformats.org/officeDocument/2006/relationships" id="258" r:id="R626e84b2acd7456b"/>
    <p:sldId xmlns:r="http://schemas.openxmlformats.org/officeDocument/2006/relationships" id="259" r:id="Raeec4d792c434184"/>
    <p:sldId xmlns:r="http://schemas.openxmlformats.org/officeDocument/2006/relationships" id="260" r:id="R03eaa245a48647d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7f7ed9b7e419e" /><Relationship Type="http://schemas.openxmlformats.org/officeDocument/2006/relationships/theme" Target="/ppt/theme/theme1.xml" Id="R510415175c9c4d64" /><Relationship Type="http://schemas.openxmlformats.org/officeDocument/2006/relationships/notesMaster" Target="/ppt/notesMasters/notesMaster1.xml" Id="R800aab085bab48dc" /><Relationship Type="http://schemas.openxmlformats.org/officeDocument/2006/relationships/presProps" Target="/ppt/presProps.xml" Id="R7e72cf605acf4e30" /><Relationship Type="http://schemas.openxmlformats.org/officeDocument/2006/relationships/viewProps" Target="/ppt/viewProps.xml" Id="R2aa010cfedaf4d1c" /><Relationship Type="http://schemas.openxmlformats.org/officeDocument/2006/relationships/tableStyles" Target="/ppt/tableStyles.xml" Id="Re31c8263dfde4848" /><Relationship Type="http://schemas.openxmlformats.org/officeDocument/2006/relationships/slide" Target="/ppt/slides/slide1.xml" Id="R6007a72d1f0147c2" /><Relationship Type="http://schemas.openxmlformats.org/officeDocument/2006/relationships/slide" Target="/ppt/slides/slide2.xml" Id="Re05daff3971e4a3f" /><Relationship Type="http://schemas.openxmlformats.org/officeDocument/2006/relationships/slide" Target="/ppt/slides/slide3.xml" Id="R626e84b2acd7456b" /><Relationship Type="http://schemas.openxmlformats.org/officeDocument/2006/relationships/slide" Target="/ppt/slides/slide4.xml" Id="Raeec4d792c434184" /><Relationship Type="http://schemas.openxmlformats.org/officeDocument/2006/relationships/slide" Target="/ppt/slides/slide5.xml" Id="R03eaa245a48647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9c1b494faab40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1b932bf5f64236" /><Relationship Type="http://schemas.openxmlformats.org/officeDocument/2006/relationships/notesMaster" Target="/ppt/notesMasters/notesMaster1.xml" Id="Rd9977b792ca344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9ccd4bf0084387" /><Relationship Type="http://schemas.openxmlformats.org/officeDocument/2006/relationships/notesMaster" Target="/ppt/notesMasters/notesMaster1.xml" Id="R346e490ef8714a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a6130271ba458d" /><Relationship Type="http://schemas.openxmlformats.org/officeDocument/2006/relationships/notesMaster" Target="/ppt/notesMasters/notesMaster1.xml" Id="Rbc698a25fb6741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6bdf26987f428e" /><Relationship Type="http://schemas.openxmlformats.org/officeDocument/2006/relationships/notesMaster" Target="/ppt/notesMasters/notesMaster1.xml" Id="R7281a4a0c2f544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190f5adde645dd" /><Relationship Type="http://schemas.openxmlformats.org/officeDocument/2006/relationships/notesMaster" Target="/ppt/notesMasters/notesMaster1.xml" Id="Rfceb47e4db2d46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ceeb512d1d4f0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dcd661eb8994999" /><Relationship Type="http://schemas.openxmlformats.org/officeDocument/2006/relationships/slideLayout" Target="/ppt/slideLayouts/slideLayout2.xml" Id="R822684b3706b42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2684b3706b42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e85bdbab5a4ceb" /><Relationship Type="http://schemas.openxmlformats.org/officeDocument/2006/relationships/notesSlide" Target="/ppt/notesSlides/notesSlide1.xml" Id="R49f5269431ea41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576f23678b4e7e" /><Relationship Type="http://schemas.openxmlformats.org/officeDocument/2006/relationships/notesSlide" Target="/ppt/notesSlides/notesSlide2.xml" Id="Rd0f391a883ac4b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8b92163b484ba0" /><Relationship Type="http://schemas.openxmlformats.org/officeDocument/2006/relationships/image" Target="/ppt/media/image.png" Id="Ra5d5b73296f647fb" /><Relationship Type="http://schemas.openxmlformats.org/officeDocument/2006/relationships/notesSlide" Target="/ppt/notesSlides/notesSlide3.xml" Id="R00f6eeb30a5847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3ddc6534d64b90" /><Relationship Type="http://schemas.openxmlformats.org/officeDocument/2006/relationships/notesSlide" Target="/ppt/notesSlides/notesSlide4.xml" Id="R8c4c50312b7c42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51c6894fe646b9" /><Relationship Type="http://schemas.openxmlformats.org/officeDocument/2006/relationships/notesSlide" Target="/ppt/notesSlides/notesSlide5.xml" Id="R17051e2842a14a7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E7E39-1A05-43D0-B76B-44161C5C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AA49A-A164-47F2-9F87-D8268C84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0"/>
            <a:ext cx="4286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02938-B1E2-40B2-AE46-BED522B7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0B8FDC-244A-47FF-AC0D-605B4A3D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92CE9-5B41-4A7C-B683-1266EE82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8C56C-0CC0-4C34-AAFD-B0837AE5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D8651-4956-4A5A-9AFE-B9C3982B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56B35-1CB2-4D91-B40D-25A57D7E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1AC32-287D-48E4-9837-AB7245D7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0782C-ED21-4361-B746-6D00E66A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551ED-39DB-44A9-A2EA-E5F00221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C45CD5-D0B9-4C35-A31F-344F3211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62000"/>
            <a:ext cx="9525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0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85DE28-4DDC-47CD-A0FA-BC6F1CC4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6705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6BFD6-758E-4803-B047-D3D9DF6B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94E6B-D4BF-4CD3-8AFF-2B47D3DA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AMD DEVELOPER HACKATHON | TRACK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792813-9136-4CF6-894B-5BFFF43A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590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GuardianRail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C1D3AF-60D0-4E30-8040-32CA7619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241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DE8E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0">
                <a:solidFill>
                  <a:srgbClr val="DDE8E0"/>
                </a:solidFill>
                <a:latin typeface="Aptos Display"/>
                <a:ea typeface="Aptos Display"/>
                <a:cs typeface="Aptos Display"/>
              </a:rPr>
              <a:t>Interpretable safety for open-weight regulated agents.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CE0156-8072-4F6B-BB91-A3B5D0B5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00450"/>
            <a:ext cx="619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8D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8DD"/>
                </a:solidFill>
                <a:latin typeface="Aptos"/>
                <a:ea typeface="Aptos"/>
                <a:cs typeface="Aptos"/>
              </a:rPr>
              <a:t>A deployable layer for regulated teams that self-host open models: monitor Gemma Scope features, trigger tunable policy interventions, and log every safety decision.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A39336-103F-480D-83B4-1B07B42D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71650"/>
            <a:ext cx="26098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10E"/>
          </a:solidFill>
          <a:ln xmlns:a="http://schemas.openxmlformats.org/drawingml/2006/main" w="9525">
            <a:solidFill>
              <a:srgbClr val="38504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D2AD78-E864-4A68-9281-B4B285F9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2288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OPEN-WEIGHT</a:t>
            </a:r>
          </a:p>
          <a:p xmlns:a="http://schemas.openxmlformats.org/drawingml/2006/main">
            <a:pPr algn="ctr">
              <a:def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AGENT SAFETY</a:t>
            </a:r>
          </a:p>
          <a:p xmlns:a="http://schemas.openxmlformats.org/drawingml/2006/main">
            <a:pPr algn="ctr">
              <a:def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HAS TO BE</a:t>
            </a:r>
          </a:p>
          <a:p xmlns:a="http://schemas.openxmlformats.org/drawingml/2006/main">
            <a:pPr algn="ctr">
              <a:def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OBSERVABLE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CE4FCC-FB7E-4BB1-B366-CEF354F1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8620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9AD9B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AD9B2"/>
                </a:solidFill>
                <a:latin typeface="Aptos"/>
                <a:ea typeface="Aptos"/>
                <a:cs typeface="Aptos"/>
              </a:rPr>
              <a:t>feature -&gt; rule -&gt; intervention -&gt; audit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397AF9-A42E-4523-9893-DB1435D0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3144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EB15CC-363F-402C-8CC3-3119FA40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E3FBAA-397A-46F0-981D-51B257B0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Gemma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AE1C6D-B5BB-4C05-9532-5B7DFD69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AGENT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F627C-B9D6-462D-834A-199BC075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190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C6D3C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C6D3CB"/>
                </a:solidFill>
                <a:latin typeface="Aptos"/>
                <a:ea typeface="Aptos"/>
                <a:cs typeface="Aptos"/>
              </a:rPr>
              <a:t>12B IT target backend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C4D23E-463E-4976-91EB-3967AFA5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57800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31443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16E42D-45AE-401F-8AD8-AE5DD19E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578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246ABE-C41D-48BF-9CB6-BB97FF4E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429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Scope 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2337AE-05BF-4AEA-B5D9-BAAE1E85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531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SAE FEATURES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A28DCB-5E0C-40EB-82EA-A24720EB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943600"/>
            <a:ext cx="190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C6D3C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C6D3CB"/>
                </a:solidFill>
                <a:latin typeface="Aptos"/>
                <a:ea typeface="Aptos"/>
                <a:cs typeface="Aptos"/>
              </a:rPr>
              <a:t>layer-12 residual scan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7699C1-AB3B-4FA1-A3EC-2404FBDC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57800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31443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23D3BB-FBC3-467C-A08E-BE74B07C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578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5B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6309F5-0D5D-416A-87EF-E3D69BD4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429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MI300X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1736D8-19CE-48FD-9022-5CD867EE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7531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AMD CLOUD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3C7C13-D549-478F-91C6-F2CC4212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943600"/>
            <a:ext cx="190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C6D3C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C6D3CB"/>
                </a:solidFill>
                <a:latin typeface="Aptos"/>
                <a:ea typeface="Aptos"/>
                <a:cs typeface="Aptos"/>
              </a:rPr>
              <a:t>GPU-backed real path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473E37-27B8-4C49-9462-15FC7F4B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57800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31443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B5CC97-E3B4-4ADA-8BCD-555E3397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578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5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EE2760-1199-4072-AEFD-6CB9EF65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29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Audit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17836B-1215-4F74-953D-6E003631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7531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MVP CONTROL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C8FA74-2D85-4E58-B318-72F3A841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943600"/>
            <a:ext cx="190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C6D3C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C6D3CB"/>
                </a:solidFill>
                <a:latin typeface="Aptos"/>
                <a:ea typeface="Aptos"/>
                <a:cs typeface="Aptos"/>
              </a:rPr>
              <a:t>policy clamp + SQLite log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A486D8-ED2C-4E4B-B662-48F87C6E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DA09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DA096"/>
                </a:solidFill>
                <a:latin typeface="Aptos"/>
                <a:ea typeface="Aptos"/>
                <a:cs typeface="Aptos"/>
              </a:rPr>
              <a:t>GuardianRail pitch deck | May 2026 | github.com/kvn8888/guardianrail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0973D9-E2E9-439A-A5A3-69713E01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47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DA09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DA09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672254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33AB78-A495-4EA3-BA7E-CD916A15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21529-37B3-4256-BFF2-DADFAC2C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8FC9D-8FD4-477B-AB07-55ED1869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2615B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6A4F4-3435-4F66-9710-3EA5B203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8096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13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F1713"/>
                </a:solidFill>
                <a:latin typeface="Aptos Display"/>
                <a:ea typeface="Aptos Display"/>
                <a:cs typeface="Aptos Display"/>
              </a:rPr>
              <a:t>Regulated support teams need more than a refusal classifier.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6E97C-C4AF-4CCB-9FDA-8171C167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7429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Regulated teams in finance, healthcare, insurance, public-sector, and internal operations may need open-weight agents for cost, compliance, and data sovereignty. The risk is losing frontier-lab-style safety observability once the model is self-hosted.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7E272-128B-418E-AD62-854C63DC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2381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DA5B4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C376B-EDCB-4840-81F7-7EB09405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Hosted frontier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63D3F4-791B-4013-8B0C-C4BE6C6E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2076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Strong safety posture, but customer data and policy control leave your infrastructure.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C7B79D-A0F3-4A14-AC01-189E613E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76600"/>
            <a:ext cx="2381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E7B8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84069D-2F71-49BA-9D77-C6AFE72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099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Self-hosted open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29C89D-3909-4988-94F2-0BB708F4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676650"/>
            <a:ext cx="2076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Better control over data and cost, but safety behavior becomes a black box again.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FB102-DA27-4E40-9B44-59D8EF44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76600"/>
            <a:ext cx="3048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9AD9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70D212-4674-491F-937F-A140BD81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409950"/>
            <a:ext cx="2743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GuardianRail layer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C453F-5B1B-4818-8ED4-29FE256B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76650"/>
            <a:ext cx="2743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Feature monitoring, tunable policy interventions, and structured audit logs around the agent.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A8791-167B-42A5-A72A-9C0D9193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481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CDA241-5EE2-4E28-8205-4603E5AA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800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72D145-3865-4297-A103-1F4C7B46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D79769-02EE-4232-9612-E6263861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800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C4A120-8114-4F79-8189-2C1EEE2A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DD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50F03D-2189-4889-AF8D-184F32A6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76800"/>
            <a:ext cx="142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C1E1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3C1E1B"/>
                </a:solidFill>
                <a:latin typeface="Aptos"/>
                <a:ea typeface="Aptos"/>
                <a:cs typeface="Aptos"/>
              </a:rPr>
              <a:t>blocked by sovereignty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116B7D-4C36-413E-B3E6-609D799A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819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1E7345-AEBB-4D59-B32D-BDA1ADE7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76800"/>
            <a:ext cx="142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4D3810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4D3810"/>
                </a:solidFill>
                <a:latin typeface="Aptos"/>
                <a:ea typeface="Aptos"/>
                <a:cs typeface="Aptos"/>
              </a:rPr>
              <a:t>cheap but opaque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83F9CD-8012-4BAC-B314-26E41627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1965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C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9026D8-3DA3-429E-A50B-4FD6E16D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231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0231B"/>
                </a:solidFill>
                <a:latin typeface="Aptos"/>
                <a:ea typeface="Aptos"/>
                <a:cs typeface="Aptos"/>
              </a:rPr>
              <a:t>inspectable control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DEC620-5AF6-4F76-93C1-38B964EC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914400"/>
            <a:ext cx="1428750" cy="461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D33D37-6676-4C88-853E-68F758BA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18110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Honest claims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1FC1D9-723A-44E6-87F8-233C6199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581150"/>
            <a:ext cx="99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3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7C74AD-EA19-4FD7-B1F3-48D4736D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6764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7B84B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A31468-DF3A-46FC-BA1B-86263D08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69545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SAE training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3C411C-C977-4CEE-AE50-DE42180D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66950"/>
            <a:ext cx="99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3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DA3F93-DA7C-49D6-9C50-82488A6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3622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7B84B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95017B-C10D-48DB-80F8-8AEC0414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8125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fine-tuning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6EE4BD-5958-4C4E-9FE0-97AE045A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952750"/>
            <a:ext cx="99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3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1192BE-9DE8-44FC-81AC-5FBCB705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0480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7B84B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F51498-7328-441A-A109-5CE2D8A7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06705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jailbreak solved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6685CF-6125-493F-9EA9-6F47D4C6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638550"/>
            <a:ext cx="99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5CD0D4-AFB5-4FE5-B5C5-E581A1B2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733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D9B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AD9B2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DAE5F1-CDFA-451A-954D-55DDB751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75285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policy-layer clamp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9CB31A-CA65-4AE2-ADF9-39FF7CC6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324350"/>
            <a:ext cx="99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3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68913E6-0507-45C8-B00B-8375AD35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4196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B84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7B84B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4E7ED8C-2D19-4622-9AD6-C37E0CE7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438650"/>
            <a:ext cx="66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residual replacement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AFD269-99BC-4F0E-B1EC-1E5BA336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975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56F"/>
                </a:solidFill>
                <a:latin typeface="Aptos"/>
                <a:ea typeface="Aptos"/>
                <a:cs typeface="Aptos"/>
              </a:rPr>
              <a:t>Sources: README.md, docs/guardianrail-mvp.md | Current implementation is policy-layer clamping, not residual-stream editing.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796CE6-710E-457F-80D3-F1514A7D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47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56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9756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5483769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909E99-B4B9-4D5A-8C7E-FCA60350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47EB2-55AB-46E7-A6D8-32E3E9AB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2B17D-C6EB-4ED7-B69D-49447624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785F9-288C-46C3-85A2-055F53C4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8096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The demo turns a risk phrase into an auditable clamp rule.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9437A-CA8F-4A83-BA94-35A3E3BD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This is the Golden-Gate-Claude-style moment for judges: a visible feature spike, a named clamp, and a log row that explains the safety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203A1-C1D8-495D-9D81-D561DD20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9AD9B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421DC-5FCD-4B57-BCAE-7DB16EAE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480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1. Describe 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3B1F8-9FC0-4770-9B0C-3617380B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2171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8D6C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8D6CD"/>
                </a:solidFill>
                <a:latin typeface="Aptos"/>
                <a:ea typeface="Aptos"/>
                <a:cs typeface="Aptos"/>
              </a:rPr>
              <a:t>`system prompt override` or `unauthorized action`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2E3D81-B457-4B4D-9D09-3911ECE0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E7B8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DA714-FEA6-409F-B8A7-5206519E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2. Select feature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A4A14-049D-4C45-A5D9-396C5076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2171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8D6C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8D6CD"/>
                </a:solidFill>
                <a:latin typeface="Aptos"/>
                <a:ea typeface="Aptos"/>
                <a:cs typeface="Aptos"/>
              </a:rPr>
              <a:t>Text-to-feature suggests feat_166 or another local candidate.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B532C1-3759-401A-B0CF-1D70E823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76850"/>
            <a:ext cx="247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DA5B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DF9DB2-A786-4BE2-9BB4-F6C23E1E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102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3. Clamp + log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B8B7B9-FCCA-4B8C-B6A7-B31C2A6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76900"/>
            <a:ext cx="2171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8D6C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8D6CD"/>
                </a:solidFill>
                <a:latin typeface="Aptos"/>
                <a:ea typeface="Aptos"/>
                <a:cs typeface="Aptos"/>
              </a:rPr>
              <a:t>Rule fires, response changes, SQLite audit row stores provenance.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D1BBA-39B1-4BBA-9E17-C5565C26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8290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74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BC44E0-4A4C-4C68-A56C-0FFBA405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101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74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749FF-8D0C-4FA1-98B8-ED9199D8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74485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10E"/>
          </a:solidFill>
          <a:ln xmlns:a="http://schemas.openxmlformats.org/drawingml/2006/main" w="9525">
            <a:solidFill>
              <a:srgbClr val="4B635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5b73296f647fb"/>
          <a:stretch xmlns:a="http://schemas.openxmlformats.org/drawingml/2006/main"/>
        </p:blipFill>
        <p:spPr>
          <a:xfrm xmlns:a="http://schemas.openxmlformats.org/drawingml/2006/main">
            <a:off x="5167572" y="2819400"/>
            <a:ext cx="4314305" cy="32956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1C2928-277F-4A31-98E6-9791ADEE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91D165-8884-4FC5-B4B7-E906BB6B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1809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231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0231B"/>
                </a:solidFill>
                <a:latin typeface="Aptos"/>
                <a:ea typeface="Aptos"/>
                <a:cs typeface="Aptos"/>
              </a:rPr>
              <a:t>real app screenshot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4DAC22-E336-4EFB-A89E-36F6168B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72200"/>
            <a:ext cx="2905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82F"/>
          </a:solidFill>
          <a:ln xmlns:a="http://schemas.openxmlformats.org/drawingml/2006/main" w="9525">
            <a:solidFill>
              <a:srgbClr val="5B74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345C19-F9FF-4CB4-A850-696287F7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271462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D7E3DA"/>
                </a:solidFill>
                <a:latin typeface="Aptos"/>
                <a:ea typeface="Aptos"/>
                <a:cs typeface="Aptos"/>
              </a:rPr>
              <a:t>feature clamp rail is policy-layer in this MVP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4E1F85-18AB-44D0-BBC4-810EAAB4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DA09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DA096"/>
                </a:solidFill>
                <a:latin typeface="Aptos"/>
                <a:ea typeface="Aptos"/>
                <a:cs typeface="Aptos"/>
              </a:rPr>
              <a:t>Product proof: Streamlit UI screenshot from local GuardianRail app state | docs/guardian-rules.md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4F2F6E-C293-4E1E-8762-FB0414A3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47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DA09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DA09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748502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B6DF55-E24B-4905-AD63-FD4478EE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ACF6B-2B7B-4451-847B-E21038C7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03C0F-25E5-4F70-8C54-53B822BE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2615B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0E971-2C80-48F1-AE95-A48980DB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8477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1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F1713"/>
                </a:solidFill>
                <a:latin typeface="Aptos Display"/>
                <a:ea typeface="Aptos Display"/>
                <a:cs typeface="Aptos Display"/>
              </a:rPr>
              <a:t>The pipeline keeps technical labels visible from token to audit row.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D0232-2E95-4D3C-A9F1-7611E2B7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GuardianRail avoids a generic wrapper story. The controller reads model activations, encodes them through Gemma Scope, evaluates named guardian rules, and records the intervention path.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1B5B01-855C-43F2-822F-6095AA88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0363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4"/>
          </a:solidFill>
          <a:ln xmlns:a="http://schemas.openxmlformats.org/drawingml/2006/main" w="9525">
            <a:solidFill>
              <a:srgbClr val="C5CDC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951AB-9138-49EE-AC8F-698EFFFC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428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9AD9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FDD43-4CED-4B84-A337-F33F95AC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6710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Streamlit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DD122-F8DB-49CE-AFB7-1EED10A1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chat, GPU visualizer, feature panel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39DC2-2408-4AE1-81C0-F6A1C2BD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33750"/>
            <a:ext cx="1524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E7B8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2EED30-F037-4D6F-82FC-8F10A52B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67100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Agent controller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1E349-DFED-4B8E-86DA-165283C1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733800"/>
            <a:ext cx="1219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policy + tool gates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B8536-670E-44F4-ACEC-CFB2B31B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33750"/>
            <a:ext cx="16764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B8A5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E1F840-6719-48B5-9092-26CF458B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671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Gemma 3 12B 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E5E458-7805-42D1-AB6F-3770CC2B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33800"/>
            <a:ext cx="1371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HF Transformers on ROCm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E2FD90-1CF1-4A5F-A62F-50B8FD25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16764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DA5B4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A60A78-B1C2-4818-AD04-3D5CE9AE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671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Layer 12 hook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549FDE-BD41-4CE8-9BAA-0A061B02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33800"/>
            <a:ext cx="1371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resid_post activation capture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0EBB8-6DDB-4461-BAC1-A70AEBD0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16764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9AD9B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EC3A1B-C59B-4F7F-9D2C-6C0F1E90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671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Gemma Scope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10AEA6-C8EF-43A1-9EB8-501221AE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3800"/>
            <a:ext cx="1371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16k SAE feature encoder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E2D29A-70E7-42B4-9DE5-031B2908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100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35D3C-4587-4513-B8C9-97169349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EDCD33-9C80-438C-BEF3-920E248D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4FD5BC-3CD3-441C-A952-3025F62E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0CD63-86E2-4948-93FC-2797C9C4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569D6E-6040-4B5E-A8E3-2F6866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3F27C9-4C11-4107-BE8D-90E0D26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100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1311F1-1641-41E2-A9C7-996A7F1F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904FEB-E2AD-4AE7-BF0F-69AD94AC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006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10231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846B4A-B189-479D-8EC2-C3DD8543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340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Rules engine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AEEE69-6537-4CC8-9B5B-4F8FA1025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6007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threshold -&gt; allow / refuse / escalate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4483E3-BA69-4A76-919C-99D39BCA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2006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DA5B4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18F3DB-28D7-4417-B88A-AE9CA9A9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3340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Intervention ledger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B83776-1A59-4ED1-84A7-75192207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6007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monitor / clamp / boost / pause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1E04BB-48C5-46E4-A14C-E9C1498B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2006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9525">
            <a:solidFill>
              <a:srgbClr val="E7B8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9B797A-05FB-4F9F-92A5-58945B0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3340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1713"/>
                </a:solidFill>
                <a:latin typeface="Aptos"/>
                <a:ea typeface="Aptos"/>
                <a:cs typeface="Aptos"/>
              </a:rPr>
              <a:t>SQLite audit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23C8CA-2F78-4AF6-9CA6-9E72D095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6007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5B"/>
                </a:solidFill>
                <a:latin typeface="Aptos"/>
                <a:ea typeface="Aptos"/>
                <a:cs typeface="Aptos"/>
              </a:rPr>
              <a:t>prompt, feature, threshold, action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C0801D-A89B-41DD-9A0E-D8D355CA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67200"/>
            <a:ext cx="95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9353E6-3E4C-4647-BD29-DB0D221B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72050"/>
            <a:ext cx="438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14FA575-A410-44E6-978C-AE99064D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244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96C890-FA38-4D81-8314-A8D08326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81650"/>
            <a:ext cx="19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CE53A1-98E0-4F78-B681-B78A20D3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55340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8BCD58-E138-419C-9EAD-CD70DA8B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5816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CACAA0-D8E1-4221-9AB5-A8D0F227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55340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C86608-1FBD-4D6A-B52D-F6C1CFC5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895350"/>
            <a:ext cx="16764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25EB18D-0102-414A-976D-0AD36257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1239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AMD path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D42A4E-BBC6-4973-A0A2-633ED53C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466850"/>
            <a:ext cx="1200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rocm/pytorch container</a:t>
            </a:r>
          </a:p>
          <a:p xmlns:a="http://schemas.openxmlformats.org/drawingml/2006/main">
            <a:pPr algn="l">
              <a:defRPr sz="788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MI300X GPU droplet</a:t>
            </a:r>
          </a:p>
          <a:p xmlns:a="http://schemas.openxmlformats.org/drawingml/2006/main">
            <a:pPr algn="l">
              <a:defRPr sz="788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no vLLM, no bitsandbytes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5B237B2-A79D-48D6-A7E4-6D9CD4E9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975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56F"/>
                </a:solidFill>
                <a:latin typeface="Aptos"/>
                <a:ea typeface="Aptos"/>
                <a:cs typeface="Aptos"/>
              </a:rPr>
              <a:t>Sources: README.md, docs/amd-first-checkpoint.md, src/real_guardian.py, src/interventions.py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62BD10-C476-436D-B395-93A6A3C8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47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9756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9756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936241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EA0DD0-56B0-4114-9812-ACB0F8CC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68ABF5-671A-4F12-B9F3-DDE888FB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A496DE-01DF-46BE-A744-E9F58243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7675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EVIDENCE AND 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6C25A-1DEF-4ED5-B17A-7B2E6C6C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The MVP is narrow, measurable, and stage-ready.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6F6D4-E60D-4503-AD7E-02253545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752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3DA"/>
                </a:solidFill>
                <a:latin typeface="Aptos"/>
                <a:ea typeface="Aptos"/>
                <a:cs typeface="Aptos"/>
              </a:rPr>
              <a:t>Five calibrated layer-12 guardian features were selected from a 30 benign / 30 adversarial prompt scan, then wired into demo rules and the audit trail.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0269D-1533-4BD6-895A-A74FB645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590550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B"/>
          </a:solidFill>
          <a:ln xmlns:a="http://schemas.openxmlformats.org/drawingml/2006/main" w="9525">
            <a:solidFill>
              <a:srgbClr val="3650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98133-44F4-4941-ADE7-80B2C4AF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Prompt-injection feature activations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E7DD1-D0B0-4543-ACC4-A204E708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81325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AEC2B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EC2B5"/>
                </a:solidFill>
                <a:latin typeface="Aptos"/>
                <a:ea typeface="Aptos"/>
                <a:cs typeface="Aptos"/>
              </a:rPr>
              <a:t>value /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07D17-FA06-4274-A941-27808764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feat_7455 broad adversarial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3B027-27DC-4D4A-86D8-BEC719B4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528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DDE8E0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DE8E0"/>
                </a:solidFill>
                <a:latin typeface="Aptos"/>
                <a:ea typeface="Aptos"/>
                <a:cs typeface="Aptos"/>
              </a:rPr>
              <a:t>213 / 77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83FC9-B59E-4867-926C-83536CEB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3C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F08E39-6800-48BD-BA87-352B354D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251187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5B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797B4-406F-427D-A1DD-98F54149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100" y="3562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0B8C7F-9F54-4194-A27A-0E1161FD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feat_64 unauthorized account access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999737-212C-4140-9B6A-6CF7E87E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386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DDE8E0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DE8E0"/>
                </a:solidFill>
                <a:latin typeface="Aptos"/>
                <a:ea typeface="Aptos"/>
                <a:cs typeface="Aptos"/>
              </a:rPr>
              <a:t>381 / 121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894ABC-767F-42E3-BD29-F53BE097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3C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B73D68-F3EE-4667-B06C-4A641886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449307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6BBEC6-873F-4275-A733-E7CC8183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986" y="42481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86F4F-8525-4309-8867-092FDBB4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feat_166 hidden/system instruction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ECB966-B8F9-4325-B933-A70CC293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244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DDE8E0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DE8E0"/>
                </a:solidFill>
                <a:latin typeface="Aptos"/>
                <a:ea typeface="Aptos"/>
                <a:cs typeface="Aptos"/>
              </a:rPr>
              <a:t>245 /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423AB5-6476-4481-9C67-D7F545E9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3C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8B768B-22A1-4EE1-B208-17EF52E2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288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AB9221-7161-4B02-AFFD-C74A32A6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843" y="49339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814B32-7A0B-4C1A-A049-F49978A2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53050"/>
            <a:ext cx="504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9C9C0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9C9C0"/>
                </a:solidFill>
                <a:latin typeface="Aptos"/>
                <a:ea typeface="Aptos"/>
                <a:cs typeface="Aptos"/>
              </a:rPr>
              <a:t>These are empirically useful contrastive candidates, not permanent mechanistic truths.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C0089F-E110-4ED7-B45C-1B770F03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24150"/>
            <a:ext cx="390525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10E"/>
          </a:solidFill>
          <a:ln xmlns:a="http://schemas.openxmlformats.org/drawingml/2006/main" w="9525">
            <a:solidFill>
              <a:srgbClr val="36504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9D88BD-9D4E-4715-9D61-91EA1BCF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527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90-second judge demo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664664-5430-4FD7-938D-041F7E7A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528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9AD9B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362DDB-CA99-48BB-91F6-E4647134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86150"/>
            <a:ext cx="2838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Turn 1: normal case status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BEEDDF-D960-4914-A110-A33C8480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3380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8D6CD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8D6CD"/>
                </a:solidFill>
                <a:latin typeface="Aptos"/>
                <a:ea typeface="Aptos"/>
                <a:cs typeface="Aptos"/>
              </a:rPr>
              <a:t>features below threshold -&gt; allow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A5DA6A-0AC5-495D-92AB-331634A2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0576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DA5B4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93ED0C-D112-4F45-8513-7AFB9511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191000"/>
            <a:ext cx="2838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Turn 2: prompt injection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95FE7-E94D-4BB0-9238-A15B7257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38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8D6CD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8D6CD"/>
                </a:solidFill>
                <a:latin typeface="Aptos"/>
                <a:ea typeface="Aptos"/>
                <a:cs typeface="Aptos"/>
              </a:rPr>
              <a:t>feature spike -&gt; refuse + clamp ledger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E862AF-E19F-4EF9-AE5C-A8BA1163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7625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A22"/>
          </a:solidFill>
          <a:ln xmlns:a="http://schemas.openxmlformats.org/drawingml/2006/main" w="9525">
            <a:solidFill>
              <a:srgbClr val="E7B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0510D9-FB59-41B2-810C-2ECC52D6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95850"/>
            <a:ext cx="2838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BFCF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BFCF7"/>
                </a:solidFill>
                <a:latin typeface="Aptos"/>
                <a:ea typeface="Aptos"/>
                <a:cs typeface="Aptos"/>
              </a:rPr>
              <a:t>Turn 3: social engineering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A7598E-51FC-4DD8-83A3-AC524468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4350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8D6CD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8D6CD"/>
                </a:solidFill>
                <a:latin typeface="Aptos"/>
                <a:ea typeface="Aptos"/>
                <a:cs typeface="Aptos"/>
              </a:rPr>
              <a:t>feature pattern -&gt; human escalation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552D91-1492-4656-8EA1-26E8E97E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24550"/>
            <a:ext cx="1485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D9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028E1B-F848-4C5E-90BB-893C9472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81700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0231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0231B"/>
                </a:solidFill>
                <a:latin typeface="Aptos"/>
                <a:ea typeface="Aptos"/>
                <a:cs typeface="Aptos"/>
              </a:rPr>
              <a:t>shipped: repo + docs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F84E13-7207-400A-BA2B-B3177EFB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9245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D33"/>
          </a:solidFill>
          <a:ln xmlns:a="http://schemas.openxmlformats.org/drawingml/2006/main" w="9525">
            <a:solidFill>
              <a:srgbClr val="5B74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A09CBA-CE2A-489E-ADB7-C4A90B17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981700"/>
            <a:ext cx="1809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D7E3DA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D7E3DA"/>
                </a:solidFill>
                <a:latin typeface="Aptos"/>
                <a:ea typeface="Aptos"/>
                <a:cs typeface="Aptos"/>
              </a:rPr>
              <a:t>next: residual-stream replacement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AA293E-5F9A-45AC-BA98-C51929C9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92455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D3AF5B-4945-480E-B1FF-E7C90DFC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98170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D210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2D210B"/>
                </a:solidFill>
                <a:latin typeface="Aptos"/>
                <a:ea typeface="Aptos"/>
                <a:cs typeface="Aptos"/>
              </a:rPr>
              <a:t>final: video + submission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36A2A1-C5AD-4EAD-BE40-42A1192C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905500"/>
            <a:ext cx="342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BFCF7"/>
                </a:solidFill>
                <a:latin typeface="Aptos Display"/>
                <a:ea typeface="Aptos Display"/>
                <a:cs typeface="Aptos Display"/>
              </a:rPr>
              <a:t>GuardianRail: open source, MIT, built for AMD MI300X.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54C506-8D05-4AF0-979B-46D42026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DA096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DA096"/>
                </a:solidFill>
                <a:latin typeface="Aptos"/>
                <a:ea typeface="Aptos"/>
                <a:cs typeface="Aptos"/>
              </a:rPr>
              <a:t>Sources: artifacts/guardian_rules_layer12.json, docs/guardian-feature-candidates.md, docs/guardianrail-mvp.md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CD09EE-2178-4B85-82C3-34D5D424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96050"/>
            <a:ext cx="47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DA09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DA09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000793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2026-05-10T17:59:47.2690000Z</dcterms:created>
  <dcterms:modified xsi:type="dcterms:W3CDTF">2026-05-10T17:59:47.2690000Z</dcterms:modified>
</coreProperties>
</file>