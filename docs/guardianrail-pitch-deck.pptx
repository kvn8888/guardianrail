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19a3a9615b4258" /><Relationship Type="http://schemas.openxmlformats.org/officeDocument/2006/relationships/extended-properties" Target="/docProps/app.xml" Id="R3ad00357ace047cf" /><Relationship Type="http://schemas.openxmlformats.org/officeDocument/2006/relationships/officeDocument" Target="/ppt/presentation.xml" Id="Raa690fb1be124f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f647ea1c424d0f"/>
  </p:sldMasterIdLst>
  <p:notesMasterIdLst>
    <p:notesMasterId xmlns:r="http://schemas.openxmlformats.org/officeDocument/2006/relationships" r:id="Re09db1aa50c04266"/>
  </p:notesMasterIdLst>
  <p:sldIdLst>
    <p:sldId xmlns:r="http://schemas.openxmlformats.org/officeDocument/2006/relationships" id="256" r:id="Rb1df9245470f476d"/>
    <p:sldId xmlns:r="http://schemas.openxmlformats.org/officeDocument/2006/relationships" id="257" r:id="Rf33880ac2c75494a"/>
    <p:sldId xmlns:r="http://schemas.openxmlformats.org/officeDocument/2006/relationships" id="258" r:id="R6628e82b459e4c07"/>
    <p:sldId xmlns:r="http://schemas.openxmlformats.org/officeDocument/2006/relationships" id="259" r:id="R7c3abcf7edb54223"/>
    <p:sldId xmlns:r="http://schemas.openxmlformats.org/officeDocument/2006/relationships" id="260" r:id="R89ac73c7027949c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f647ea1c424d0f" /><Relationship Type="http://schemas.openxmlformats.org/officeDocument/2006/relationships/theme" Target="/ppt/theme/theme1.xml" Id="R2a8eb8753ebb44c8" /><Relationship Type="http://schemas.openxmlformats.org/officeDocument/2006/relationships/notesMaster" Target="/ppt/notesMasters/notesMaster1.xml" Id="Re09db1aa50c04266" /><Relationship Type="http://schemas.openxmlformats.org/officeDocument/2006/relationships/presProps" Target="/ppt/presProps.xml" Id="Ra14e9f663c07446a" /><Relationship Type="http://schemas.openxmlformats.org/officeDocument/2006/relationships/viewProps" Target="/ppt/viewProps.xml" Id="R8ddb9a0967d64f41" /><Relationship Type="http://schemas.openxmlformats.org/officeDocument/2006/relationships/tableStyles" Target="/ppt/tableStyles.xml" Id="R657970af3ffb467d" /><Relationship Type="http://schemas.openxmlformats.org/officeDocument/2006/relationships/slide" Target="/ppt/slides/slide1.xml" Id="Rb1df9245470f476d" /><Relationship Type="http://schemas.openxmlformats.org/officeDocument/2006/relationships/slide" Target="/ppt/slides/slide2.xml" Id="Rf33880ac2c75494a" /><Relationship Type="http://schemas.openxmlformats.org/officeDocument/2006/relationships/slide" Target="/ppt/slides/slide3.xml" Id="R6628e82b459e4c07" /><Relationship Type="http://schemas.openxmlformats.org/officeDocument/2006/relationships/slide" Target="/ppt/slides/slide4.xml" Id="R7c3abcf7edb54223" /><Relationship Type="http://schemas.openxmlformats.org/officeDocument/2006/relationships/slide" Target="/ppt/slides/slide5.xml" Id="R89ac73c7027949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e1f6dd3f4f4b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d9b6d92cc4011" /><Relationship Type="http://schemas.openxmlformats.org/officeDocument/2006/relationships/notesMaster" Target="/ppt/notesMasters/notesMaster1.xml" Id="Ref15195c908d4d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761df6758e45be" /><Relationship Type="http://schemas.openxmlformats.org/officeDocument/2006/relationships/notesMaster" Target="/ppt/notesMasters/notesMaster1.xml" Id="R745135922fad4a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1133ac06fa40a2" /><Relationship Type="http://schemas.openxmlformats.org/officeDocument/2006/relationships/notesMaster" Target="/ppt/notesMasters/notesMaster1.xml" Id="R95908f0aebdc41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16ec4908754456" /><Relationship Type="http://schemas.openxmlformats.org/officeDocument/2006/relationships/notesMaster" Target="/ppt/notesMasters/notesMaster1.xml" Id="Rb498c4f8fa8f46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a7570791d34349" /><Relationship Type="http://schemas.openxmlformats.org/officeDocument/2006/relationships/notesMaster" Target="/ppt/notesMasters/notesMaster1.xml" Id="R58b6b7a37b074f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c42e446a8c44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bda835567454145" /><Relationship Type="http://schemas.openxmlformats.org/officeDocument/2006/relationships/slideLayout" Target="/ppt/slideLayouts/slideLayout2.xml" Id="R01e954d6734f49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954d6734f49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db8d5a7a33440f" /><Relationship Type="http://schemas.openxmlformats.org/officeDocument/2006/relationships/notesSlide" Target="/ppt/notesSlides/notesSlide1.xml" Id="R8ad60c48265f4a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cf9100b2b3489e" /><Relationship Type="http://schemas.openxmlformats.org/officeDocument/2006/relationships/notesSlide" Target="/ppt/notesSlides/notesSlide2.xml" Id="R474f5b8f586942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f5629074324a1a" /><Relationship Type="http://schemas.openxmlformats.org/officeDocument/2006/relationships/image" Target="/ppt/media/image.png" Id="R72d6abcb9aaa4131" /><Relationship Type="http://schemas.openxmlformats.org/officeDocument/2006/relationships/notesSlide" Target="/ppt/notesSlides/notesSlide3.xml" Id="R8ead97a9ec9640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d098093cfa407a" /><Relationship Type="http://schemas.openxmlformats.org/officeDocument/2006/relationships/notesSlide" Target="/ppt/notesSlides/notesSlide4.xml" Id="R87168d78ac2d4e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665574ffc40b2" /><Relationship Type="http://schemas.openxmlformats.org/officeDocument/2006/relationships/notesSlide" Target="/ppt/notesSlides/notesSlide5.xml" Id="R5be9313ed2ba44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53A22-844B-43F8-9773-A8062838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2AFD2-B40D-45D8-9D81-C7393D0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428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92268-BFD1-48B9-9910-26DDC2A4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6D5A6-FF61-4A3D-8A30-EB92D275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E7B4E5-6439-4B8E-9566-29DA771C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42CCB-501B-4E0B-BC70-401FDAD0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B827F-F0F3-473F-8183-32AD97D9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7E685-ECF8-4EAC-AF02-E3CB276C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36C6D-CF3E-4B85-BEBE-00B4F60B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4B6FB-D684-46AC-93E8-1D100ED3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78FF0-1105-450C-BC63-3AFC6205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5546D-8110-4816-9635-524B5977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62000"/>
            <a:ext cx="9525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0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B1648-5C2F-41A5-A86C-D4B7229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6705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B28AA8-9D76-46B4-9286-E0C3B9BF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47FAF2-EF99-4A21-A499-07315EADF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AMD DEVELOPER HACKATHON | TRACK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4C0B1-530C-413F-AAEB-350BB1F6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590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GuardianRail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9F81C-E765-4440-AE88-BF59C6D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619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E8E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0">
                <a:solidFill>
                  <a:srgbClr val="DDE8E0"/>
                </a:solidFill>
                <a:latin typeface="Aptos Display"/>
                <a:ea typeface="Aptos Display"/>
                <a:cs typeface="Aptos Display"/>
              </a:rPr>
              <a:t>Interpretable safety for open-weight customer support agents.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5F04CF-716E-46FC-9FC7-5C05967F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00450"/>
            <a:ext cx="619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DD"/>
                </a:solidFill>
                <a:latin typeface="Aptos"/>
                <a:ea typeface="Aptos"/>
                <a:cs typeface="Aptos"/>
              </a:rPr>
              <a:t>A deployable layer for regulated teams that self-host open models: monitor Gemma Scope features, trigger tunable policy interventions, and log every safety decision.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F9B8E-1526-4FDC-90F0-B022C4C5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26098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38504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35FD2-C40F-4996-AC23-FF154BC4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2288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OPEN-WEIGHT</a:t>
            </a:r>
          </a:p>
          <a:p xmlns:a="http://schemas.openxmlformats.org/drawingml/2006/main">
            <a:pPr algn="ctr">
              <a:def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AGENT SAFETY</a:t>
            </a:r>
          </a:p>
          <a:p xmlns:a="http://schemas.openxmlformats.org/drawingml/2006/main">
            <a:pPr algn="ctr">
              <a:def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HAS TO BE</a:t>
            </a:r>
          </a:p>
          <a:p xmlns:a="http://schemas.openxmlformats.org/drawingml/2006/main">
            <a:pPr algn="ctr">
              <a:def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OBSERVABLE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C20815-04B0-4568-9E94-F8B0CD10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86200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D9B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9AD9B2"/>
                </a:solidFill>
                <a:latin typeface="Aptos"/>
                <a:ea typeface="Aptos"/>
                <a:cs typeface="Aptos"/>
              </a:rPr>
              <a:t>feature -&gt; rule -&gt; intervention -&gt; audit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02731-0BA6-402C-8822-5D47ADA9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3144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78FBD-A6BA-4C38-9700-271BF553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4E6973-55C9-4795-A1B6-DFC74F79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Gemma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F78416-1A3D-43D1-93B1-82EF802A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AGENT MODEL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D8FC0-53F5-44FA-9461-D79B5DC2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D3C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D3CB"/>
                </a:solidFill>
                <a:latin typeface="Aptos"/>
                <a:ea typeface="Aptos"/>
                <a:cs typeface="Aptos"/>
              </a:rPr>
              <a:t>12B IT target 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A32BF-16D0-4707-BCF9-73EB847E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3144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E11B0B-E9A5-4247-9FE7-7D63BD36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6BB26-D53E-4EC3-BB8E-4BEBDB91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29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Scope 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05ADDE-98E7-4EF4-B495-2F2C17DF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531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SAE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EF60F4-599F-4372-8CD3-22F9FF2B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9436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D3C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D3CB"/>
                </a:solidFill>
                <a:latin typeface="Aptos"/>
                <a:ea typeface="Aptos"/>
                <a:cs typeface="Aptos"/>
              </a:rPr>
              <a:t>layer-12 residual scan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DEED00-B1F6-4C72-B1D1-FDD28966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578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314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54D6DB-5599-4F5D-951E-0351862C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2578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F800E1-B203-4A41-B370-F5B42C82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29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MI300X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D00DCC-503F-408D-859A-37FA4B5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7531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AMD CLOUD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5C0253-7869-45E5-843B-4F6D77C9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436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D3C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D3CB"/>
                </a:solidFill>
                <a:latin typeface="Aptos"/>
                <a:ea typeface="Aptos"/>
                <a:cs typeface="Aptos"/>
              </a:rPr>
              <a:t>GPU-backed real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BC3163-2AB8-4D7B-B5A4-A1704DC5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228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3144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3DE929-84B0-4279-B5C3-B28EBF83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2286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A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0D7257-E1DC-4FDE-98E1-6D8C425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292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Audit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C9D94D-7093-4268-B7B8-AD45F0CA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53100"/>
            <a:ext cx="1809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MVP CONTROL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D9598FD-2574-4E42-BD5F-718750C7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9436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D3C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D3CB"/>
                </a:solidFill>
                <a:latin typeface="Aptos"/>
                <a:ea typeface="Aptos"/>
                <a:cs typeface="Aptos"/>
              </a:rPr>
              <a:t>policy clamp + SQLite log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CE585C-6D7F-4A76-9BB1-3F36861B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09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096"/>
                </a:solidFill>
                <a:latin typeface="Aptos"/>
                <a:ea typeface="Aptos"/>
                <a:cs typeface="Aptos"/>
              </a:rPr>
              <a:t>GuardianRail pitch deck | May 2026 | github.com/kvn8888/guardianrail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0065F2-081E-430D-AAA0-D442AD14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A09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09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63281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6D427-7302-42D1-9A8A-D6AE9A93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8C410-7892-4326-998C-80A3D432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ED286-DB57-4633-99E9-FB389333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2615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C03CD-A969-4DE4-BE3D-4C795689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F1713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0F1713"/>
                </a:solidFill>
                <a:latin typeface="Aptos Display"/>
                <a:ea typeface="Aptos Display"/>
                <a:cs typeface="Aptos Display"/>
              </a:rPr>
              <a:t>Regulated support teams need more than a refusal classifier.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ED076-3F3A-4DCB-ADC9-48036F2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742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Banks, insurers, and healthcare teams may need open-weight agents for cost, compliance, and data sovereignty. The risk is losing frontier-lab-style safety observability once the model is self-hosted.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7C2C90-6F29-4B5D-BC6E-C0436481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DA5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ECAA2-7C7F-4EE1-A4E9-A29347F1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Hosted frontier 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26BCD-5710-4A88-BB0F-4831D3F5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Strong safety posture, but customer data and policy control leave your infrastructure.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3516A-9AD2-48BB-BBDF-B3809A1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7660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E7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3DF1B-4FE0-45C0-BB13-F1280AB7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099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Self-hosted open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B555F8-28E9-40F0-B671-1D3D0EFD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76650"/>
            <a:ext cx="2076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Better control over data and cost, but safety behavior becomes a black box again.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F4CE8-6FD7-418E-87F6-15F1A1FC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3048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9AD9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30762-F194-4943-A65D-91303241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99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GuardianRail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9E229-D703-4788-8FB7-5292B740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Feature monitoring, tunable policy interventions, and structured audit logs around the agent.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85B47-3AD4-472F-A333-34ABD313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48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62C06-2349-4D08-BBB3-1DD1ABA1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59685-E6C6-47D6-9971-86EE8324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4810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D8F799-D316-4C00-B5A9-7D15470A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800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9C7EA0-ACBD-40F3-9A78-42DB2EAC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D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3036B-2404-45E1-B5EF-595A82F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768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C1E1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3C1E1B"/>
                </a:solidFill>
                <a:latin typeface="Aptos"/>
                <a:ea typeface="Aptos"/>
                <a:cs typeface="Aptos"/>
              </a:rPr>
              <a:t>blocked by sovereignty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6D1749-4C91-4137-8467-1BB18E38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196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CC6E80-2B91-47E7-A5CC-0F92C669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4D381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D3810"/>
                </a:solidFill>
                <a:latin typeface="Aptos"/>
                <a:ea typeface="Aptos"/>
                <a:cs typeface="Aptos"/>
              </a:rPr>
              <a:t>cheap but opaque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4A2F5-982E-4AB9-87DC-BB890BA9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C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9CAE8-5BDB-4150-A409-0CF3F467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231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231B"/>
                </a:solidFill>
                <a:latin typeface="Aptos"/>
                <a:ea typeface="Aptos"/>
                <a:cs typeface="Aptos"/>
              </a:rPr>
              <a:t>inspectable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B4C5A0-B695-4A9A-B1A2-8A5F310C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914400"/>
            <a:ext cx="142875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39DDBA-74B5-4927-89E7-B9100DEB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18110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Honest claims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5164D5-577F-400A-97E8-04BFF8F3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811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3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37A32-CB46-4FC1-87EF-13FAE5D2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6764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84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F26258-5165-430D-91E9-02F0ECC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6954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SAE training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8D122-89FC-4177-B09B-8EC92231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669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3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420AEE-DB58-4F44-A1D3-603DA4E5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622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84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5A066A-DDB8-43C4-9FAB-91167A15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3812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fine-tuning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BA7984-31C5-4ED7-BF4C-A4FBBC46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9527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3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10EC28-CF21-44AE-9965-967A42B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048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84B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FEE2CE-7DC6-4FB6-88C0-1E313A7B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670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jailbreak solved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D93DDF3-C301-4C9B-98E3-9059C74D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6385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5EC774-8DAB-442C-B4E8-FA2936F7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7338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D9B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D9B2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021648-DB92-42E2-93CD-3B75D022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528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policy-layer clamp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D17A50-B058-4347-BF9F-398AB48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243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35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C9C943-234B-422A-8B0C-7554D536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4196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7B84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7B84B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5520F8-5A30-4FF8-836B-A02EF6C6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438650"/>
            <a:ext cx="66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residual replacement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CFB849-55AE-4E47-9746-FEA92A09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5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56F"/>
                </a:solidFill>
                <a:latin typeface="Aptos"/>
                <a:ea typeface="Aptos"/>
                <a:cs typeface="Aptos"/>
              </a:rPr>
              <a:t>Sources: README.md, docs/guardianrail-mvp.md | Current implementation is policy-layer clamping, not residual-stream editing.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496DC6-29E0-4924-A6B6-8E16D81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2189521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3D9201-E7CE-4041-929B-3141CC08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E4E1D-F405-46FB-8DFC-DD76B50E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94498-84CB-4797-BB12-124642EC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PRODUCT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E904D-D01B-422B-867C-6565B594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The demo turns a risk phrase into an auditable clamp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BEE2D-8058-49FD-85A7-C233084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This is the Golden-Gate-Claude-style moment for judges: a visible feature spike, a named clamp, and a log row that explains the safety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E96AF-A482-41E2-AE0E-7EACD4CD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9AD9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4C649-8B5E-469D-A345-48CA25DF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1. Describe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888AA-1DA3-4D0A-9138-DF70A23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6C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6CD"/>
                </a:solidFill>
                <a:latin typeface="Aptos"/>
                <a:ea typeface="Aptos"/>
                <a:cs typeface="Aptos"/>
              </a:rPr>
              <a:t>`system prompt override` or `unauthorized transfer`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66468-17FA-40B0-B46E-74D40922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E7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65200-5327-4543-9CD3-070D5DA2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2. Select feature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3D95A-9421-41B4-9651-827F207B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6C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6CD"/>
                </a:solidFill>
                <a:latin typeface="Aptos"/>
                <a:ea typeface="Aptos"/>
                <a:cs typeface="Aptos"/>
              </a:rPr>
              <a:t>Text-to-feature suggests feat_166 or another local candidate.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86442-4874-4CE4-A916-E57810A9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DA5B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BEFC4F-CC26-4CA9-B6B9-7837E9D7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3. Clamp + 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905EEF-96B5-4D75-9B27-150E1D1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2171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6CD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6CD"/>
                </a:solidFill>
                <a:latin typeface="Aptos"/>
                <a:ea typeface="Aptos"/>
                <a:cs typeface="Aptos"/>
              </a:rPr>
              <a:t>Rule fires, response changes, SQLite audit row stores provenance.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C64288-7237-46A0-8250-2A12B591C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2905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4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52AD3A-43E1-4D06-A450-ACEB80D5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1015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74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E3ACA5-92DB-4C6A-BF90-8B8298D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7448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4B635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6abcb9aaa4131"/>
          <a:stretch xmlns:a="http://schemas.openxmlformats.org/drawingml/2006/main"/>
        </p:blipFill>
        <p:spPr>
          <a:xfrm xmlns:a="http://schemas.openxmlformats.org/drawingml/2006/main">
            <a:off x="5167572" y="2819400"/>
            <a:ext cx="4314305" cy="32956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6677A-FA2B-446E-A1B1-85159BBA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66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DD525-5FFE-4857-B8A0-0E0B6800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231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231B"/>
                </a:solidFill>
                <a:latin typeface="Aptos"/>
                <a:ea typeface="Aptos"/>
                <a:cs typeface="Aptos"/>
              </a:rPr>
              <a:t>real app screenshot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94E40D-5081-4BA0-A523-40B6BF0C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2905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2F"/>
          </a:solidFill>
          <a:ln xmlns:a="http://schemas.openxmlformats.org/drawingml/2006/main" w="9525">
            <a:solidFill>
              <a:srgbClr val="5B746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594E0-22CB-44A2-8098-87F9BCE8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29350"/>
            <a:ext cx="27146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7E3DA"/>
                </a:solidFill>
                <a:latin typeface="Aptos"/>
                <a:ea typeface="Aptos"/>
                <a:cs typeface="Aptos"/>
              </a:rPr>
              <a:t>feature clamp rail is policy-layer in this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D57825-C341-4F53-A2DA-FA0F5025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09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096"/>
                </a:solidFill>
                <a:latin typeface="Aptos"/>
                <a:ea typeface="Aptos"/>
                <a:cs typeface="Aptos"/>
              </a:rPr>
              <a:t>Product proof: Streamlit UI screenshot from local GuardianRail app state | docs/guardian-rules.md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BAF131-5979-4CF5-B444-295BD891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A09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09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403887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6D30E4-2D7A-4FC6-B8C6-1E04F4A1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06379-7297-4F08-990B-6E408B7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3244A-C15A-45C9-96F7-1745757F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2615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359A9-A270-44C0-BCFA-79F16F12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477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1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13"/>
                </a:solidFill>
                <a:latin typeface="Aptos Display"/>
                <a:ea typeface="Aptos Display"/>
                <a:cs typeface="Aptos Display"/>
              </a:rPr>
              <a:t>The pipeline keeps technical labels visible from token to audit 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23D10-33E8-4739-9680-5D2311B3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7810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GuardianRail avoids a generic wrapper story. The controller reads model activations, encodes them through Gemma Scope, evaluates named guardian rules, and records the intervention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2A97-BD87-4177-94A5-4D46EA38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363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4"/>
          </a:solidFill>
          <a:ln xmlns:a="http://schemas.openxmlformats.org/drawingml/2006/main" w="9525">
            <a:solidFill>
              <a:srgbClr val="C5CD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7B133-DBA5-4EE5-99F2-37737A31B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428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9AD9B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0F422-58F4-4F3A-8095-0424ADBE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671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Streamlit 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BCD26-A159-4541-9A35-4ADD79C4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33800"/>
            <a:ext cx="1123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chat, GPU visualizer, feature panel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6AF29-E657-47F5-A0DB-633EA48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1524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E7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876EA-CD6C-478B-8423-171D0EB1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671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Agent 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533DB-FE61-423E-80C1-4612F8D3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33800"/>
            <a:ext cx="1219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Meridian policy +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C73C0-2E7F-448D-9034-823AE42C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B8A5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B5755-1519-40F3-939A-E021469E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671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Gemma 3 12B 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9F6DD-5087-4E71-AA39-32AF3D56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HF Transformers on ROCm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15CF68-DE09-4F10-A875-063DEB1D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DA5B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73251-30D3-41AC-8479-66F4A8070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71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Layer 12 hook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BE5C5-74E0-4D5C-9DF9-E261D15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338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resid_post activation capture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A72A2-049B-4071-809A-92542EF5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167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9AD9B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D44F2A-D760-4905-81A9-124CC75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Gemma Scope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03154-D888-47E0-BC40-0F12282F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33800"/>
            <a:ext cx="1371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16k SAE feature encoder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4A8C5-0E87-4595-B5E8-210136B3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810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25DDCB-CD6F-4DD1-ACC4-AE681691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3EAA40-9979-4B71-B770-DB8534AD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10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87CFF-0B8E-4535-8E9F-70810DF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F221A-3594-41A6-B32D-E1045889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B7E2EB-A76B-47FC-A783-EC2D20E1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1AF32-E812-460B-87DD-E8E681CB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0000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EC217-78C6-4977-A858-00C9D5A1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62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CD3B7-C993-4D65-8445-7795448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00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10231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73E374-CCD5-4305-8BE3-14E3DCB2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Rules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13518-3403-4E45-B112-69D2424E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6007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threshold -&gt; allow / refuse / escalate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08AC67-A5D9-481D-86BD-ADA99702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00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DA5B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489FE-72BA-4FF4-9078-99080938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340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Intervention ledger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FF9F0-913E-401F-B8BF-9C18D706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6007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monitor / clamp / boost / pause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54283-5C88-462D-BE80-C5C68E8D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00650"/>
            <a:ext cx="2095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9525">
            <a:solidFill>
              <a:srgbClr val="E7B8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9C6EF8-0252-4588-BD62-E4421D59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340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13"/>
                </a:solidFill>
                <a:latin typeface="Aptos"/>
                <a:ea typeface="Aptos"/>
                <a:cs typeface="Aptos"/>
              </a:rPr>
              <a:t>SQLite audit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497403-7345-4FA2-BF2A-9414B7DB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070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15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15B"/>
                </a:solidFill>
                <a:latin typeface="Aptos"/>
                <a:ea typeface="Aptos"/>
                <a:cs typeface="Aptos"/>
              </a:rPr>
              <a:t>prompt, feature, threshold, action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8232F2-8EAE-475E-8308-96F09F52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267200"/>
            <a:ext cx="95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8531E6-728F-43C3-9585-385D5E28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72050"/>
            <a:ext cx="438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40ECA2-DCAD-4D53-8A1A-3EDF4EF6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C23A72-A496-4A2D-BE47-C590BAFD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81650"/>
            <a:ext cx="19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470B70-37B1-4709-B3FB-EF2DE5BC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534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5F87F9-C8A5-4578-99FA-3B33F302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8165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0C8FF5-BD99-4AC5-95FB-6531228B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534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8A786E-D9FB-4279-9FD1-AD8EB226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95350"/>
            <a:ext cx="16764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B7E52C-9952-4BC2-8C0C-4EFB34E1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123950"/>
            <a:ext cx="1123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AMD path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03C24F-23F9-45EA-A5F4-8D985DB6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466850"/>
            <a:ext cx="1200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rocm/pytorch container</a:t>
            </a:r>
          </a:p>
          <a:p xmlns:a="http://schemas.openxmlformats.org/drawingml/2006/main">
            <a:pPr algn="l">
              <a:defRPr sz="788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MI300X GPU droplet</a:t>
            </a:r>
          </a:p>
          <a:p xmlns:a="http://schemas.openxmlformats.org/drawingml/2006/main">
            <a:pPr algn="l">
              <a:defRPr sz="788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no vLLM, no bitsandbytes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5F46C4-A905-4FBA-9C9A-30483164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9756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9756F"/>
                </a:solidFill>
                <a:latin typeface="Aptos"/>
                <a:ea typeface="Aptos"/>
                <a:cs typeface="Aptos"/>
              </a:rPr>
              <a:t>Sources: README.md, docs/amd-first-checkpoint.md, src/real_guardian.py, src/interventions.py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B2845A-11F9-4B1E-946C-E7B672BA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756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756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97469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C1C8F-4096-4010-9A9C-A7E0B6A4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AE4EE-4521-4D8E-BB47-36753DEB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ADB5D-7029-4F98-8694-206D649D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7675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EVIDENCE AND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FCF19-E206-4F98-8071-CD488C7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The MVP is narrow, measurable, and stage-ready.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1D7A8-D6ED-4AC9-9DF3-EA25EBC9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3DA"/>
                </a:solidFill>
                <a:latin typeface="Aptos"/>
                <a:ea typeface="Aptos"/>
                <a:cs typeface="Aptos"/>
              </a:rPr>
              <a:t>Five calibrated layer-12 guardian features were selected from a 30 benign / 30 adversarial prompt scan, then wired into demo rules and the audit trail.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8311C-3310-4496-91F0-5981AE2E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9055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1B"/>
          </a:solidFill>
          <a:ln xmlns:a="http://schemas.openxmlformats.org/drawingml/2006/main" w="9525">
            <a:solidFill>
              <a:srgbClr val="3650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0BC08-21BC-41D6-822F-79154A31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Prompt-injection feature activations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7EB0D-6CB6-424D-BCC7-38A79BED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81325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AEC2B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EC2B5"/>
                </a:solidFill>
                <a:latin typeface="Aptos"/>
                <a:ea typeface="Aptos"/>
                <a:cs typeface="Aptos"/>
              </a:rPr>
              <a:t>value /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FE72C-D320-40CF-BC87-421A6785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feat_7455 broad adversarial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69336-5A4B-43FA-B781-D74A4AA8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DE8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8E0"/>
                </a:solidFill>
                <a:latin typeface="Aptos"/>
                <a:ea typeface="Aptos"/>
                <a:cs typeface="Aptos"/>
              </a:rPr>
              <a:t>213 / 77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BEFCE-80A8-490D-8113-28B9A015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C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93690A-033F-4C19-AB6D-657BE54C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51187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5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0E7F34-F869-4050-8612-76017823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9100" y="35623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A2B03-9365-42D1-A553-D4761584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feat_64 unauthorized account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B2116-690E-4939-A31B-9D52E60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386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DE8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8E0"/>
                </a:solidFill>
                <a:latin typeface="Aptos"/>
                <a:ea typeface="Aptos"/>
                <a:cs typeface="Aptos"/>
              </a:rPr>
              <a:t>381 / 121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B12AA-B091-4448-8F77-452DB56A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C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D4958-849C-4796-B473-9EB5CCB3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449307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B3294-BCFB-440F-AB85-F1730B5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986" y="42481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B2957-4687-45E6-A633-203D354D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feat_166 hidden/system instruction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FDCC2-4390-452D-B156-E49792F0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2440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DDE8E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DE8E0"/>
                </a:solidFill>
                <a:latin typeface="Aptos"/>
                <a:ea typeface="Aptos"/>
                <a:cs typeface="Aptos"/>
              </a:rPr>
              <a:t>245 /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3F408-E3D4-42E2-94C1-57684C46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4953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C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E2A76-E23B-452C-85C4-25349C7E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288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618D1-9F93-49BD-93BF-B56FFB9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843" y="4933950"/>
            <a:ext cx="9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C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BA865-7097-47E4-9187-ADF9FB0D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504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9C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B9C9C0"/>
                </a:solidFill>
                <a:latin typeface="Aptos"/>
                <a:ea typeface="Aptos"/>
                <a:cs typeface="Aptos"/>
              </a:rPr>
              <a:t>These are empirically useful contrastive candidates, not permanent mechanistic truths.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5BB2E-BC6B-4B08-96CF-922D0AD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24150"/>
            <a:ext cx="3905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0E"/>
          </a:solidFill>
          <a:ln xmlns:a="http://schemas.openxmlformats.org/drawingml/2006/main" w="9525">
            <a:solidFill>
              <a:srgbClr val="36504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F3AF2D-B520-4943-B667-17C5561E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52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90-second judge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803B82-F9BA-4AC5-B8A1-203355F1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528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9AD9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EEEAEC-245D-4C41-8FD7-1F91562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8615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Turn 1: normal balance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35F3A2-25A5-4299-874C-DF320C63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33800"/>
            <a:ext cx="2838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6C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6CD"/>
                </a:solidFill>
                <a:latin typeface="Aptos"/>
                <a:ea typeface="Aptos"/>
                <a:cs typeface="Aptos"/>
              </a:rPr>
              <a:t>features below threshold -&gt; allow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127E45-4932-4699-A795-8A188BAF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0576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DA5B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7C82A9-6A12-4A93-BE1E-FA1A9807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Turn 2: prompt injection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04A92B-5378-4AEC-BDC1-7670A556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38650"/>
            <a:ext cx="2838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6C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6CD"/>
                </a:solidFill>
                <a:latin typeface="Aptos"/>
                <a:ea typeface="Aptos"/>
                <a:cs typeface="Aptos"/>
              </a:rPr>
              <a:t>feature spike -&gt; refuse + clamp ledger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72EC96-BB1E-4F30-A048-D9A1C645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625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A22"/>
          </a:solidFill>
          <a:ln xmlns:a="http://schemas.openxmlformats.org/drawingml/2006/main" w="9525">
            <a:solidFill>
              <a:srgbClr val="E7B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AD1507-6C99-4F0E-A536-ECA1A63D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9585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BFC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BFCF7"/>
                </a:solidFill>
                <a:latin typeface="Aptos"/>
                <a:ea typeface="Aptos"/>
                <a:cs typeface="Aptos"/>
              </a:rPr>
              <a:t>Turn 3: social engineering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AD8AAD-2D97-44EF-A40E-F50285A9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43500"/>
            <a:ext cx="2838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8D6C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6CD"/>
                </a:solidFill>
                <a:latin typeface="Aptos"/>
                <a:ea typeface="Aptos"/>
                <a:cs typeface="Aptos"/>
              </a:rPr>
              <a:t>feature pattern -&gt; human escalation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95BFC6-8850-408D-9CC2-1D3F66C2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D9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FFE895-EE71-475D-8697-5199E584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295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0231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0231B"/>
                </a:solidFill>
                <a:latin typeface="Aptos"/>
                <a:ea typeface="Aptos"/>
                <a:cs typeface="Aptos"/>
              </a:rPr>
              <a:t>shipped: repo + docs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8D7BE9-8712-4CC8-9A2C-6540DF6F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9245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D33"/>
          </a:solidFill>
          <a:ln xmlns:a="http://schemas.openxmlformats.org/drawingml/2006/main" w="9525">
            <a:solidFill>
              <a:srgbClr val="5B746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E6449B-B80C-4C37-A0A8-143E58A1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9817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D7E3D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D7E3DA"/>
                </a:solidFill>
                <a:latin typeface="Aptos"/>
                <a:ea typeface="Aptos"/>
                <a:cs typeface="Aptos"/>
              </a:rPr>
              <a:t>next: residual-stream replacement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88A226-E26D-4409-8762-E6491F5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2455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8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D44F9D-373C-4597-B8DF-108EEE22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81700"/>
            <a:ext cx="1409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D210B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2D210B"/>
                </a:solidFill>
                <a:latin typeface="Aptos"/>
                <a:ea typeface="Aptos"/>
                <a:cs typeface="Aptos"/>
              </a:rPr>
              <a:t>final: video + submission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0C31A-E1D7-450B-A395-35984463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905500"/>
            <a:ext cx="3429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BFCF7"/>
                </a:solidFill>
                <a:latin typeface="Aptos Display"/>
                <a:ea typeface="Aptos Display"/>
                <a:cs typeface="Aptos Display"/>
              </a:rPr>
              <a:t>GuardianRail: open source, MIT, built for AMD MI300X.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FBF4E6-8460-4A5C-99BF-D77CE80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DA096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DA096"/>
                </a:solidFill>
                <a:latin typeface="Aptos"/>
                <a:ea typeface="Aptos"/>
                <a:cs typeface="Aptos"/>
              </a:rPr>
              <a:t>Sources: artifacts/guardian_rules_layer12.json, docs/guardian-feature-candidates.md, docs/guardianrail-mvp.md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255992-58D8-4994-B457-CD5639E7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8DA09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A09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865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2026-05-10T06:04:39.1620000Z</dcterms:created>
  <dcterms:modified xsi:type="dcterms:W3CDTF">2026-05-10T06:04:39.1620000Z</dcterms:modified>
</coreProperties>
</file>